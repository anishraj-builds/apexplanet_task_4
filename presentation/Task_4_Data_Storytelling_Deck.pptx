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8" r:id="rId9"/>
    <p:sldId id="269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  <a:srgbClr val="8D9C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dPt>
            <c:idx val="0"/>
            <c:bubble3D val="0"/>
            <c:spPr>
              <a:solidFill>
                <a:srgbClr val="2E66E1"/>
              </a:solidFill>
            </c:spPr>
          </c:dPt>
          <c:dPt>
            <c:idx val="1"/>
            <c:bubble3D val="0"/>
            <c:spPr>
              <a:solidFill>
                <a:srgbClr val="DADFE8"/>
              </a:solidFill>
            </c:spPr>
          </c:dPt>
          <c:cat>
            <c:strRef>
              <c:f>Sheet1!$A$2:$A$3</c:f>
              <c:strCache>
                <c:ptCount val="2"/>
                <c:pt idx="0">
                  <c:v>Selected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9.41</c:v>
                </c:pt>
                <c:pt idx="1">
                  <c:v>90.59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dPt>
            <c:idx val="0"/>
            <c:bubble3D val="0"/>
            <c:spPr>
              <a:solidFill>
                <a:srgbClr val="2E66E1"/>
              </a:solidFill>
            </c:spPr>
          </c:dPt>
          <c:dPt>
            <c:idx val="1"/>
            <c:bubble3D val="0"/>
            <c:spPr>
              <a:solidFill>
                <a:srgbClr val="DADFE8"/>
              </a:solidFill>
            </c:spPr>
          </c:dPt>
          <c:cat>
            <c:strRef>
              <c:f>Sheet1!$A$2:$A$3</c:f>
              <c:strCache>
                <c:ptCount val="2"/>
                <c:pt idx="0">
                  <c:v>Selected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13.99</c:v>
                </c:pt>
                <c:pt idx="1">
                  <c:v>86.01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dPt>
            <c:idx val="0"/>
            <c:bubble3D val="0"/>
            <c:spPr>
              <a:solidFill>
                <a:srgbClr val="2E66E1"/>
              </a:solidFill>
            </c:spPr>
          </c:dPt>
          <c:dPt>
            <c:idx val="1"/>
            <c:bubble3D val="0"/>
            <c:spPr>
              <a:solidFill>
                <a:srgbClr val="DADFE8"/>
              </a:solidFill>
            </c:spPr>
          </c:dPt>
          <c:cat>
            <c:strRef>
              <c:f>Sheet1!$A$2:$A$3</c:f>
              <c:strCache>
                <c:ptCount val="2"/>
                <c:pt idx="0">
                  <c:v>Selected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36.53</c:v>
                </c:pt>
                <c:pt idx="1">
                  <c:v>63.47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648DE-CDAE-4309-8C1E-1327E5968DFA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E0927-01F1-44EA-A8E5-73C8BC8D54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19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4E0927-01F1-44EA-A8E5-73C8BC8D548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162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0"/>
            <a:ext cx="13716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19751"/>
            <a:ext cx="105156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563EB"/>
                </a:solidFill>
                <a:latin typeface="Aptos"/>
              </a:defRPr>
            </a:pPr>
            <a:r>
              <a:rPr sz="3000" dirty="0"/>
              <a:t>APEXPLANET TASK </a:t>
            </a:r>
            <a:r>
              <a:rPr lang="en-US" sz="3000" dirty="0" smtClean="0"/>
              <a:t>- </a:t>
            </a:r>
            <a:r>
              <a:rPr sz="3000" dirty="0" smtClean="0"/>
              <a:t>4</a:t>
            </a:r>
            <a:endParaRPr sz="3000" dirty="0"/>
          </a:p>
          <a:p>
            <a:pPr>
              <a:spcAft>
                <a:spcPts val="2000"/>
              </a:spcAft>
              <a:defRPr sz="4000" b="1">
                <a:solidFill>
                  <a:srgbClr val="F2C43E"/>
                </a:solidFill>
                <a:latin typeface="Aptos"/>
              </a:defRPr>
            </a:pPr>
            <a:r>
              <a:rPr lang="en-IN" sz="4000" b="1" dirty="0"/>
              <a:t>Data Storytelling &amp; Statistical </a:t>
            </a:r>
            <a:r>
              <a:rPr lang="en-IN" sz="4000" b="1" dirty="0" smtClean="0"/>
              <a:t>Validation</a:t>
            </a:r>
            <a:endParaRPr dirty="0" smtClean="0"/>
          </a:p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rPr sz="2000" dirty="0" smtClean="0"/>
              <a:t>Domain: E-Commerce Analytics</a:t>
            </a:r>
            <a:r>
              <a:rPr lang="en-US" sz="2000" dirty="0" smtClean="0"/>
              <a:t>  </a:t>
            </a:r>
            <a:r>
              <a:rPr lang="en-IN" sz="2000" dirty="0" smtClean="0"/>
              <a:t>|  Role: Data Analyst </a:t>
            </a:r>
            <a:r>
              <a:rPr lang="en-IN" sz="2000" dirty="0" smtClean="0">
                <a:solidFill>
                  <a:srgbClr val="8D9CB1"/>
                </a:solidFill>
              </a:rPr>
              <a:t>Intern</a:t>
            </a:r>
            <a:r>
              <a:rPr lang="en-IN" sz="2000" dirty="0" smtClean="0"/>
              <a:t> </a:t>
            </a:r>
            <a:r>
              <a:rPr sz="2000" dirty="0" smtClean="0"/>
              <a:t/>
            </a:r>
            <a:br>
              <a:rPr sz="2000" dirty="0" smtClean="0"/>
            </a:br>
            <a:r>
              <a:rPr lang="en-IN" sz="2000" dirty="0" smtClean="0">
                <a:solidFill>
                  <a:srgbClr val="8D9CB1"/>
                </a:solidFill>
                <a:latin typeface="Aptos"/>
              </a:rPr>
              <a:t>Presented by: Anish Raj R</a:t>
            </a:r>
            <a:endParaRPr sz="2000" dirty="0">
              <a:solidFill>
                <a:srgbClr val="8D9CB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 dirty="0" smtClean="0"/>
              <a:t>0</a:t>
            </a:r>
            <a:r>
              <a:rPr lang="en-US" sz="1500" dirty="0" smtClean="0"/>
              <a:t>1</a:t>
            </a:r>
            <a:endParaRPr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sz="3000" b="1" dirty="0"/>
              <a:t>Business Performance Snapshot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 dirty="0"/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2780" y="1828800"/>
            <a:ext cx="320040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/>
              <a:t>Peak </a:t>
            </a:r>
            <a:r>
              <a:rPr sz="2000" dirty="0" smtClean="0"/>
              <a:t>Month</a:t>
            </a:r>
            <a:endParaRPr lang="en-US" sz="2000" dirty="0" smtClean="0"/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1000" dirty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500" b="1" dirty="0"/>
              <a:t>March </a:t>
            </a:r>
            <a:r>
              <a:rPr sz="1500" b="1" dirty="0" smtClean="0"/>
              <a:t>2025</a:t>
            </a:r>
            <a:endParaRPr lang="en-US" sz="1500" b="1" dirty="0" smtClean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500" b="1" dirty="0"/>
          </a:p>
          <a:p>
            <a:pPr lvl="1">
              <a:spcAft>
                <a:spcPts val="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500" dirty="0"/>
              <a:t>₹12.97M Revenue</a:t>
            </a:r>
            <a:endParaRPr lang="en-US" sz="1500" dirty="0" smtClean="0"/>
          </a:p>
          <a:p>
            <a:pPr lvl="1">
              <a:spcAft>
                <a:spcPts val="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dirty="0"/>
              <a:t>Highest monthly revenue in the analysis.</a:t>
            </a:r>
            <a:endParaRPr lang="en-US" sz="1500" dirty="0"/>
          </a:p>
          <a:p>
            <a:pPr marL="285750" lvl="1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4208" y="1828800"/>
            <a:ext cx="3200400" cy="4893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/>
              <a:t>Top </a:t>
            </a:r>
            <a:r>
              <a:rPr sz="2000" dirty="0" smtClean="0"/>
              <a:t>City</a:t>
            </a:r>
            <a:endParaRPr lang="en-US" sz="2000" dirty="0" smtClean="0"/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1000" dirty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500" b="1" dirty="0" smtClean="0"/>
              <a:t>Patna</a:t>
            </a:r>
            <a:endParaRPr lang="en-US" sz="1500" b="1" dirty="0" smtClean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500" b="1" dirty="0"/>
          </a:p>
          <a:p>
            <a:pPr lvl="1">
              <a:spcAft>
                <a:spcPts val="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500" dirty="0"/>
              <a:t>₹19.29M Revenue</a:t>
            </a:r>
            <a:endParaRPr lang="en-US" sz="1500" dirty="0" smtClean="0"/>
          </a:p>
          <a:p>
            <a:pPr lvl="1">
              <a:spcAft>
                <a:spcPts val="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dirty="0"/>
              <a:t>Highest city-level revenue in the analysis.</a:t>
            </a:r>
            <a:endParaRPr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b="1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56616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3200400" cy="289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/>
              <a:t>Top </a:t>
            </a:r>
            <a:r>
              <a:rPr sz="2000" dirty="0" smtClean="0"/>
              <a:t>Category</a:t>
            </a:r>
            <a:endParaRPr lang="en-US" sz="2000" dirty="0" smtClean="0"/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1000" dirty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500" b="1" dirty="0" smtClean="0"/>
              <a:t>Electronics</a:t>
            </a:r>
            <a:endParaRPr lang="en-US" sz="1500" b="1" dirty="0" smtClean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500" b="1" dirty="0"/>
          </a:p>
          <a:p>
            <a:pPr lvl="1">
              <a:spcAft>
                <a:spcPts val="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500" dirty="0"/>
              <a:t>₹50.36M Revenue</a:t>
            </a:r>
            <a:endParaRPr lang="en-US" sz="1500" dirty="0"/>
          </a:p>
          <a:p>
            <a:pPr lvl="1">
              <a:spcAft>
                <a:spcPts val="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dirty="0"/>
              <a:t>Highest category-level revenue in the analysis.</a:t>
            </a: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400">
                <a:solidFill>
                  <a:srgbClr val="0F172A"/>
                </a:solidFill>
                <a:latin typeface="Aptos"/>
              </a:defRPr>
            </a:pPr>
            <a:endParaRPr lang="en-US"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400">
                <a:solidFill>
                  <a:srgbClr val="0F172A"/>
                </a:solidFill>
                <a:latin typeface="Aptos"/>
              </a:defRPr>
            </a:pPr>
            <a:endParaRPr sz="1500" dirty="0"/>
          </a:p>
        </p:txBody>
      </p:sp>
      <p:sp>
        <p:nvSpPr>
          <p:cNvPr id="12" name="Rounded Rectangle 11"/>
          <p:cNvSpPr/>
          <p:nvPr/>
        </p:nvSpPr>
        <p:spPr>
          <a:xfrm>
            <a:off x="742492" y="5113324"/>
            <a:ext cx="2995574" cy="109728"/>
          </a:xfrm>
          <a:prstGeom prst="roundRect">
            <a:avLst/>
          </a:prstGeom>
          <a:solidFill>
            <a:srgbClr val="DA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2492" y="5113324"/>
            <a:ext cx="281883" cy="109728"/>
          </a:xfrm>
          <a:prstGeom prst="roundRect">
            <a:avLst/>
          </a:prstGeom>
          <a:solidFill>
            <a:srgbClr val="2E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82972" y="5113324"/>
            <a:ext cx="2995574" cy="109728"/>
          </a:xfrm>
          <a:prstGeom prst="roundRect">
            <a:avLst/>
          </a:prstGeom>
          <a:solidFill>
            <a:srgbClr val="DA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82972" y="5113324"/>
            <a:ext cx="419080" cy="109728"/>
          </a:xfrm>
          <a:prstGeom prst="roundRect">
            <a:avLst/>
          </a:prstGeom>
          <a:solidFill>
            <a:srgbClr val="2E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23452" y="5113324"/>
            <a:ext cx="2995574" cy="109728"/>
          </a:xfrm>
          <a:prstGeom prst="roundRect">
            <a:avLst/>
          </a:prstGeom>
          <a:solidFill>
            <a:srgbClr val="DA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23452" y="5113324"/>
            <a:ext cx="1094283" cy="109728"/>
          </a:xfrm>
          <a:prstGeom prst="roundRect">
            <a:avLst/>
          </a:prstGeom>
          <a:solidFill>
            <a:srgbClr val="2E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2780" y="3307080"/>
            <a:ext cx="3085286" cy="1548455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926" y="3442573"/>
            <a:ext cx="264367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646976"/>
                </a:solidFill>
                <a:latin typeface="Aptos"/>
              </a:rPr>
              <a:t>REVENUE CONTRIBUTION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240599"/>
              </p:ext>
            </p:extLst>
          </p:nvPr>
        </p:nvGraphicFramePr>
        <p:xfrm>
          <a:off x="872096" y="3739001"/>
          <a:ext cx="1120441" cy="961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95314" y="3849695"/>
            <a:ext cx="97975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161C2D"/>
                </a:solidFill>
                <a:latin typeface="Aptos"/>
              </a:rPr>
              <a:t>9.41%</a:t>
            </a:r>
          </a:p>
          <a:p>
            <a:r>
              <a:rPr sz="900" dirty="0">
                <a:solidFill>
                  <a:srgbClr val="646976"/>
                </a:solidFill>
                <a:latin typeface="Aptos"/>
              </a:rPr>
              <a:t>of total revenue</a:t>
            </a:r>
          </a:p>
          <a:p>
            <a:r>
              <a:rPr sz="800" b="1" dirty="0">
                <a:solidFill>
                  <a:srgbClr val="2E66E1"/>
                </a:solidFill>
                <a:latin typeface="Aptos"/>
              </a:rPr>
              <a:t>Rank 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65684"/>
            <a:ext cx="331052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>
                <a:solidFill>
                  <a:srgbClr val="646976"/>
                </a:solidFill>
                <a:latin typeface="Aptos"/>
              </a:rPr>
              <a:t>March is the highest-revenue month.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82972" y="3307080"/>
            <a:ext cx="2931126" cy="1537025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2572" y="3442573"/>
            <a:ext cx="264367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646976"/>
                </a:solidFill>
                <a:latin typeface="Aptos"/>
              </a:rPr>
              <a:t>REVENUE CONTRIBUTION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468417"/>
              </p:ext>
            </p:extLst>
          </p:nvPr>
        </p:nvGraphicFramePr>
        <p:xfrm>
          <a:off x="4999608" y="3801689"/>
          <a:ext cx="91440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005448" y="3838265"/>
            <a:ext cx="97975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161C2D"/>
                </a:solidFill>
                <a:latin typeface="Aptos"/>
              </a:rPr>
              <a:t>13.99%</a:t>
            </a:r>
          </a:p>
          <a:p>
            <a:r>
              <a:rPr sz="900" dirty="0">
                <a:solidFill>
                  <a:srgbClr val="646976"/>
                </a:solidFill>
                <a:latin typeface="Aptos"/>
              </a:rPr>
              <a:t>of total revenue</a:t>
            </a:r>
          </a:p>
          <a:p>
            <a:r>
              <a:rPr sz="800" b="1" dirty="0">
                <a:solidFill>
                  <a:srgbClr val="2E66E1"/>
                </a:solidFill>
                <a:latin typeface="Aptos"/>
              </a:rPr>
              <a:t>Rank 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6797" y="5371195"/>
            <a:ext cx="301730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>
                <a:solidFill>
                  <a:srgbClr val="646976"/>
                </a:solidFill>
                <a:latin typeface="Aptos"/>
              </a:rPr>
              <a:t>Patna is the highest-revenue city.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23454" y="3307080"/>
            <a:ext cx="2995572" cy="1488805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0611" y="3430304"/>
            <a:ext cx="264367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646976"/>
                </a:solidFill>
                <a:latin typeface="Aptos"/>
              </a:rPr>
              <a:t>REVENUE CONTRIBUTION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115164"/>
              </p:ext>
            </p:extLst>
          </p:nvPr>
        </p:nvGraphicFramePr>
        <p:xfrm>
          <a:off x="8905171" y="3753469"/>
          <a:ext cx="91440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9911011" y="3790045"/>
            <a:ext cx="97975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61C2D"/>
                </a:solidFill>
                <a:latin typeface="Aptos"/>
              </a:rPr>
              <a:t>36.53%</a:t>
            </a:r>
          </a:p>
          <a:p>
            <a:r>
              <a:rPr sz="900">
                <a:solidFill>
                  <a:srgbClr val="646976"/>
                </a:solidFill>
                <a:latin typeface="Aptos"/>
              </a:rPr>
              <a:t>of total revenue</a:t>
            </a:r>
          </a:p>
          <a:p>
            <a:r>
              <a:rPr sz="800" b="1">
                <a:solidFill>
                  <a:srgbClr val="2E66E1"/>
                </a:solidFill>
                <a:latin typeface="Aptos"/>
              </a:rPr>
              <a:t>Rank #1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3453" y="5371195"/>
            <a:ext cx="30979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646976"/>
                </a:solidFill>
                <a:latin typeface="Aptos"/>
              </a:rPr>
              <a:t>Electronics is the highest-revenue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sz="3000" b="1"/>
              <a:t>Analysis Scope and Group Definition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 dirty="0"/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383280" cy="3806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300" dirty="0">
                <a:latin typeface="Aptos"/>
              </a:rPr>
              <a:t>Other-Category Orders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Sample </a:t>
            </a:r>
            <a:r>
              <a:rPr b="1" dirty="0">
                <a:latin typeface="Aptos"/>
              </a:rPr>
              <a:t>Size (N</a:t>
            </a:r>
            <a:r>
              <a:rPr b="1" dirty="0" smtClean="0">
                <a:latin typeface="Aptos"/>
              </a:rPr>
              <a:t>):</a:t>
            </a:r>
            <a:endParaRPr lang="en-US" b="1" dirty="0" smtClean="0">
              <a:latin typeface="Aptos"/>
            </a:endParaRPr>
          </a:p>
          <a:p>
            <a:r>
              <a:rPr lang="en-US" b="1" dirty="0">
                <a:latin typeface="Aptos"/>
              </a:rPr>
              <a:t>	</a:t>
            </a:r>
            <a:r>
              <a:rPr b="1" dirty="0" smtClean="0">
                <a:latin typeface="Aptos"/>
              </a:rPr>
              <a:t> </a:t>
            </a:r>
            <a:r>
              <a:rPr dirty="0">
                <a:latin typeface="Aptos"/>
              </a:rPr>
              <a:t>632</a:t>
            </a:r>
          </a:p>
          <a:p>
            <a:endParaRPr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Analysis </a:t>
            </a:r>
            <a:r>
              <a:rPr b="1" dirty="0">
                <a:latin typeface="Aptos"/>
              </a:rPr>
              <a:t>Scope:</a:t>
            </a:r>
            <a:endParaRPr lang="en-US" b="1" dirty="0" smtClean="0">
              <a:latin typeface="Aptos"/>
            </a:endParaRPr>
          </a:p>
          <a:p>
            <a:endParaRPr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Orders </a:t>
            </a:r>
            <a:r>
              <a:rPr dirty="0">
                <a:latin typeface="Aptos"/>
              </a:rPr>
              <a:t>outside Electronics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Order-level </a:t>
            </a:r>
            <a:r>
              <a:rPr dirty="0">
                <a:latin typeface="Aptos"/>
              </a:rPr>
              <a:t>AOV comparison group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Goal</a:t>
            </a:r>
            <a:r>
              <a:rPr b="1" dirty="0">
                <a:latin typeface="Aptos"/>
              </a:rPr>
              <a:t>: </a:t>
            </a:r>
            <a:r>
              <a:rPr dirty="0">
                <a:latin typeface="Aptos"/>
              </a:rPr>
              <a:t>Compare order-level AOV by category.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dirty="0"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42448"/>
            <a:ext cx="3369632" cy="340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300" dirty="0">
                <a:latin typeface="Aptos"/>
              </a:rPr>
              <a:t>Electronics Orders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Sample </a:t>
            </a:r>
            <a:r>
              <a:rPr b="1" dirty="0">
                <a:latin typeface="Aptos"/>
              </a:rPr>
              <a:t>Size (N</a:t>
            </a:r>
            <a:r>
              <a:rPr b="1" dirty="0" smtClean="0">
                <a:latin typeface="Aptos"/>
              </a:rPr>
              <a:t>):</a:t>
            </a:r>
            <a:endParaRPr lang="en-US" b="1" dirty="0" smtClean="0">
              <a:latin typeface="Aptos"/>
            </a:endParaRPr>
          </a:p>
          <a:p>
            <a:r>
              <a:rPr lang="en-US" b="1" dirty="0">
                <a:latin typeface="Aptos"/>
              </a:rPr>
              <a:t>	</a:t>
            </a:r>
            <a:r>
              <a:rPr b="1" dirty="0" smtClean="0">
                <a:latin typeface="Aptos"/>
              </a:rPr>
              <a:t> </a:t>
            </a:r>
            <a:r>
              <a:rPr dirty="0">
                <a:latin typeface="Aptos"/>
              </a:rPr>
              <a:t>347</a:t>
            </a:r>
          </a:p>
          <a:p>
            <a:endParaRPr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Analysis </a:t>
            </a:r>
            <a:r>
              <a:rPr b="1" dirty="0">
                <a:latin typeface="Aptos"/>
              </a:rPr>
              <a:t>Scope</a:t>
            </a:r>
            <a:r>
              <a:rPr b="1" dirty="0" smtClean="0">
                <a:latin typeface="Aptos"/>
              </a:rPr>
              <a:t>:</a:t>
            </a:r>
            <a:endParaRPr lang="en-US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sz="1000" b="1" dirty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Electronics </a:t>
            </a:r>
            <a:r>
              <a:rPr dirty="0">
                <a:latin typeface="Aptos"/>
              </a:rPr>
              <a:t>category orders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Order-level </a:t>
            </a:r>
            <a:r>
              <a:rPr dirty="0">
                <a:latin typeface="Aptos"/>
              </a:rPr>
              <a:t>AOV comparison group</a:t>
            </a:r>
          </a:p>
          <a:p>
            <a:endParaRPr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Goal</a:t>
            </a:r>
            <a:r>
              <a:rPr b="1" dirty="0">
                <a:latin typeface="Aptos"/>
              </a:rPr>
              <a:t>:</a:t>
            </a:r>
            <a:r>
              <a:rPr dirty="0">
                <a:latin typeface="Aptos"/>
              </a:rPr>
              <a:t> Compare order-level AOV by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56616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66447" y="1828800"/>
            <a:ext cx="3437873" cy="2677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300" dirty="0" smtClean="0"/>
              <a:t>Data </a:t>
            </a:r>
            <a:r>
              <a:rPr sz="2300" dirty="0"/>
              <a:t>Quality</a:t>
            </a:r>
            <a:r>
              <a:rPr sz="2300" dirty="0" smtClean="0"/>
              <a:t>:</a:t>
            </a:r>
            <a:endParaRPr lang="en-US" sz="2300" dirty="0" smtClean="0"/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1500" dirty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700" dirty="0" smtClean="0">
                <a:latin typeface="Aptos"/>
              </a:rPr>
              <a:t>987 </a:t>
            </a:r>
            <a:r>
              <a:rPr sz="1700" dirty="0">
                <a:latin typeface="Aptos"/>
              </a:rPr>
              <a:t>valid descriptive </a:t>
            </a:r>
            <a:r>
              <a:rPr sz="1700" dirty="0" smtClean="0">
                <a:latin typeface="Aptos"/>
              </a:rPr>
              <a:t>records</a:t>
            </a:r>
            <a:endParaRPr lang="en-US" sz="1700" dirty="0" smtClean="0">
              <a:latin typeface="Aptos"/>
            </a:endParaRPr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700" dirty="0">
              <a:latin typeface="Aptos"/>
            </a:endParaRPr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700" dirty="0" smtClean="0">
                <a:latin typeface="Aptos"/>
              </a:rPr>
              <a:t>980 </a:t>
            </a:r>
            <a:r>
              <a:rPr sz="1700" dirty="0">
                <a:latin typeface="Aptos"/>
              </a:rPr>
              <a:t>distinct cleaned </a:t>
            </a:r>
            <a:r>
              <a:rPr sz="1700" dirty="0" smtClean="0">
                <a:latin typeface="Aptos"/>
              </a:rPr>
              <a:t>orders</a:t>
            </a:r>
            <a:endParaRPr lang="en-US" sz="1700" dirty="0" smtClean="0">
              <a:latin typeface="Aptos"/>
            </a:endParaRPr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700" dirty="0">
              <a:latin typeface="Aptos"/>
            </a:endParaRPr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700" dirty="0" smtClean="0">
                <a:latin typeface="Aptos"/>
              </a:rPr>
              <a:t>979 </a:t>
            </a:r>
            <a:r>
              <a:rPr sz="1700" dirty="0">
                <a:latin typeface="Aptos"/>
              </a:rPr>
              <a:t>hypothesis-test </a:t>
            </a:r>
            <a:r>
              <a:rPr sz="1700" dirty="0" smtClean="0">
                <a:latin typeface="Aptos"/>
              </a:rPr>
              <a:t>orders</a:t>
            </a:r>
            <a:endParaRPr lang="en-US" sz="1700" dirty="0" smtClean="0">
              <a:latin typeface="Aptos"/>
            </a:endParaRPr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700" dirty="0">
              <a:latin typeface="Aptos"/>
            </a:endParaRPr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700" dirty="0" smtClean="0">
                <a:latin typeface="Aptos"/>
              </a:rPr>
              <a:t>1 </a:t>
            </a:r>
            <a:r>
              <a:rPr sz="1700" dirty="0">
                <a:latin typeface="Aptos"/>
              </a:rPr>
              <a:t>mixed-category order excluded: ORD100050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5156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lang="en-US" sz="3000" b="1" dirty="0"/>
              <a:t>Electronics Shows a Higher Observed AOV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/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5616" y="1828800"/>
            <a:ext cx="4937760" cy="3282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500" dirty="0">
                <a:latin typeface="Aptos"/>
              </a:rPr>
              <a:t>Direct Cohort Comparison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1" dirty="0" smtClean="0">
                <a:latin typeface="Aptos"/>
              </a:rPr>
              <a:t>Summary </a:t>
            </a:r>
            <a:r>
              <a:rPr sz="2000" b="1" dirty="0">
                <a:latin typeface="Aptos"/>
              </a:rPr>
              <a:t>Metrics:</a:t>
            </a:r>
            <a:endParaRPr lang="en-US" sz="2000" b="1" dirty="0" smtClean="0">
              <a:latin typeface="Aptos"/>
            </a:endParaRPr>
          </a:p>
          <a:p>
            <a:endParaRPr sz="700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Other</a:t>
            </a:r>
            <a:r>
              <a:rPr dirty="0">
                <a:latin typeface="Aptos"/>
              </a:rPr>
              <a:t>: ₹136,232.75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Electronics</a:t>
            </a:r>
            <a:r>
              <a:rPr dirty="0">
                <a:latin typeface="Aptos"/>
              </a:rPr>
              <a:t>: ₹145,037.74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dirty="0" smtClean="0">
                <a:latin typeface="Aptos"/>
              </a:rPr>
              <a:t>Nominal </a:t>
            </a:r>
            <a:r>
              <a:rPr dirty="0">
                <a:latin typeface="Aptos"/>
              </a:rPr>
              <a:t>Difference: ₹8,804.99 (+6.46</a:t>
            </a:r>
            <a:r>
              <a:rPr dirty="0" smtClean="0">
                <a:latin typeface="Aptos"/>
              </a:rPr>
              <a:t>%)</a:t>
            </a:r>
            <a:endParaRPr lang="en-US" dirty="0" smtClean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1" dirty="0" smtClean="0">
                <a:latin typeface="Aptos"/>
              </a:rPr>
              <a:t>Core </a:t>
            </a:r>
            <a:r>
              <a:rPr sz="2000" b="1" dirty="0">
                <a:latin typeface="Aptos"/>
              </a:rPr>
              <a:t>Analytics: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500" b="1" dirty="0" smtClean="0">
              <a:latin typeface="Aptos"/>
            </a:endParaRPr>
          </a:p>
          <a:p>
            <a:r>
              <a:rPr lang="en-US" dirty="0" smtClean="0">
                <a:latin typeface="Aptos"/>
              </a:rPr>
              <a:t>	</a:t>
            </a:r>
            <a:r>
              <a:rPr dirty="0" smtClean="0">
                <a:latin typeface="Aptos"/>
              </a:rPr>
              <a:t>The </a:t>
            </a:r>
            <a:r>
              <a:rPr dirty="0">
                <a:latin typeface="Aptos"/>
              </a:rPr>
              <a:t>test does not provide sufficient evidence of a statistically significant difference.</a:t>
            </a:r>
            <a:endParaRPr sz="700" b="1" dirty="0">
              <a:latin typeface="Aptos"/>
            </a:endParaRPr>
          </a:p>
          <a:p>
            <a:endParaRPr sz="700" b="1" dirty="0">
              <a:latin typeface="Aptos"/>
            </a:endParaRPr>
          </a:p>
        </p:txBody>
      </p:sp>
      <p:pic>
        <p:nvPicPr>
          <p:cNvPr id="7" name="Picture 6" descr="slide4_chart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5156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lang="en-IN" sz="3000" b="1" dirty="0"/>
              <a:t>Hypotheses and Statistical Test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 dirty="0"/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5616" y="1828800"/>
            <a:ext cx="4937760" cy="38831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200" dirty="0"/>
              <a:t>Null Hypothesis (H0)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b="1" dirty="0" smtClean="0"/>
              <a:t>Mathematical </a:t>
            </a:r>
            <a:r>
              <a:rPr sz="1700" b="1" dirty="0"/>
              <a:t>Statement:</a:t>
            </a:r>
          </a:p>
          <a:p>
            <a:pPr lvl="1"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dirty="0"/>
              <a:t>H0: </a:t>
            </a:r>
            <a:r>
              <a:rPr sz="1700" dirty="0" err="1"/>
              <a:t>μE</a:t>
            </a:r>
            <a:r>
              <a:rPr sz="1700" dirty="0"/>
              <a:t> = </a:t>
            </a:r>
            <a:r>
              <a:rPr sz="1700" dirty="0" err="1"/>
              <a:t>μO</a:t>
            </a:r>
            <a:r>
              <a:rPr sz="1700" dirty="0"/>
              <a:t>  (</a:t>
            </a:r>
            <a:r>
              <a:rPr sz="1700" dirty="0" err="1"/>
              <a:t>μE</a:t>
            </a:r>
            <a:r>
              <a:rPr sz="1700" dirty="0"/>
              <a:t> - </a:t>
            </a:r>
            <a:r>
              <a:rPr sz="1700" dirty="0" err="1"/>
              <a:t>μO</a:t>
            </a:r>
            <a:r>
              <a:rPr sz="1700" dirty="0"/>
              <a:t> = 0)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endParaRPr sz="17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b="1" dirty="0" smtClean="0"/>
              <a:t>Business </a:t>
            </a:r>
            <a:r>
              <a:rPr sz="1700" b="1" dirty="0"/>
              <a:t>Definition:</a:t>
            </a:r>
          </a:p>
          <a:p>
            <a:pPr lvl="1"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dirty="0"/>
              <a:t>There is no statistically significant difference in mean AOV between Electronics and Other-category orders.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endParaRPr sz="17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b="1" dirty="0" smtClean="0"/>
              <a:t>Statistical </a:t>
            </a:r>
            <a:r>
              <a:rPr sz="1700" b="1" dirty="0"/>
              <a:t>Reality:</a:t>
            </a:r>
          </a:p>
          <a:p>
            <a:pPr lvl="1"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dirty="0"/>
              <a:t>p = 0.2546 provides insufficient evidence against H0 at α = 0.05.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38272" y="1828800"/>
            <a:ext cx="4937760" cy="37907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300" dirty="0">
                <a:latin typeface="Aptos"/>
              </a:rPr>
              <a:t>Alternative Hypothesis (H1)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Mathematical </a:t>
            </a:r>
            <a:r>
              <a:rPr b="1" dirty="0">
                <a:latin typeface="Aptos"/>
              </a:rPr>
              <a:t>Statement:</a:t>
            </a:r>
            <a:endParaRPr lang="en-US" b="1" dirty="0" smtClean="0">
              <a:latin typeface="Aptos"/>
            </a:endParaRPr>
          </a:p>
          <a:p>
            <a:endParaRPr sz="300" b="1" dirty="0">
              <a:latin typeface="Aptos"/>
            </a:endParaRPr>
          </a:p>
          <a:p>
            <a:pPr lvl="1"/>
            <a:r>
              <a:rPr dirty="0">
                <a:latin typeface="Aptos"/>
              </a:rPr>
              <a:t>H1: </a:t>
            </a:r>
            <a:r>
              <a:rPr dirty="0" err="1">
                <a:latin typeface="Aptos"/>
              </a:rPr>
              <a:t>μE</a:t>
            </a:r>
            <a:r>
              <a:rPr dirty="0">
                <a:latin typeface="Aptos"/>
              </a:rPr>
              <a:t> ≠ </a:t>
            </a:r>
            <a:r>
              <a:rPr dirty="0" err="1">
                <a:latin typeface="Aptos"/>
              </a:rPr>
              <a:t>μO</a:t>
            </a:r>
            <a:r>
              <a:rPr dirty="0">
                <a:latin typeface="Aptos"/>
              </a:rPr>
              <a:t>  (</a:t>
            </a:r>
            <a:r>
              <a:rPr dirty="0" err="1">
                <a:latin typeface="Aptos"/>
              </a:rPr>
              <a:t>μE</a:t>
            </a:r>
            <a:r>
              <a:rPr dirty="0">
                <a:latin typeface="Aptos"/>
              </a:rPr>
              <a:t> - </a:t>
            </a:r>
            <a:r>
              <a:rPr dirty="0" err="1">
                <a:latin typeface="Aptos"/>
              </a:rPr>
              <a:t>μO</a:t>
            </a:r>
            <a:r>
              <a:rPr dirty="0">
                <a:latin typeface="Aptos"/>
              </a:rPr>
              <a:t> ≠ 0)</a:t>
            </a:r>
          </a:p>
          <a:p>
            <a:endParaRPr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 smtClean="0">
                <a:latin typeface="Aptos"/>
              </a:rPr>
              <a:t>Business </a:t>
            </a:r>
            <a:r>
              <a:rPr b="1" dirty="0">
                <a:latin typeface="Aptos"/>
              </a:rPr>
              <a:t>Definition</a:t>
            </a:r>
            <a:r>
              <a:rPr b="1" dirty="0" smtClean="0">
                <a:latin typeface="Aptos"/>
              </a:rPr>
              <a:t>:</a:t>
            </a:r>
            <a:endParaRPr lang="en-US" b="1" dirty="0" smtClean="0">
              <a:latin typeface="Aptos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800" b="1" dirty="0" smtClean="0">
              <a:latin typeface="Aptos"/>
            </a:endParaRPr>
          </a:p>
          <a:p>
            <a:pPr lvl="1"/>
            <a:r>
              <a:rPr sz="1700" dirty="0">
                <a:latin typeface="Aptos"/>
              </a:rPr>
              <a:t>There is a statistically significant difference in mean AOV between Electronics and Other-category orders.</a:t>
            </a:r>
            <a:endParaRPr sz="1700" b="1" dirty="0">
              <a:latin typeface="Aptos"/>
            </a:endParaRPr>
          </a:p>
          <a:p>
            <a:pPr lvl="1"/>
            <a:endParaRPr sz="1700" b="1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1" dirty="0" smtClean="0">
                <a:latin typeface="Aptos"/>
              </a:rPr>
              <a:t>Evaluation </a:t>
            </a:r>
            <a:r>
              <a:rPr sz="1700" b="1" dirty="0">
                <a:latin typeface="Aptos"/>
              </a:rPr>
              <a:t>Method: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800" b="1" dirty="0" smtClean="0">
              <a:latin typeface="Aptos"/>
            </a:endParaRPr>
          </a:p>
          <a:p>
            <a:pPr lvl="1"/>
            <a:r>
              <a:rPr sz="1700" dirty="0">
                <a:latin typeface="Aptos"/>
              </a:rPr>
              <a:t>Evaluated via Welch's Independent Two-Sample T-test, two-sided, at α = 0.05.</a:t>
            </a:r>
            <a:endParaRPr sz="1700" b="1" dirty="0">
              <a:latin typeface="Aptos"/>
            </a:endParaRPr>
          </a:p>
          <a:p>
            <a:pPr lvl="1"/>
            <a:endParaRPr sz="300" b="1" dirty="0"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lang="en-IN" sz="3000" b="1" dirty="0"/>
              <a:t>Statistical Test Results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 dirty="0"/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18210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400" dirty="0"/>
              <a:t>Core Test Outputs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900" dirty="0" smtClean="0"/>
              <a:t>p-Value</a:t>
            </a:r>
            <a:r>
              <a:rPr sz="1900" dirty="0"/>
              <a:t>: p = </a:t>
            </a:r>
            <a:r>
              <a:rPr sz="1900" dirty="0" smtClean="0"/>
              <a:t>0.2546</a:t>
            </a:r>
            <a:endParaRPr sz="700" dirty="0"/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900" dirty="0" smtClean="0"/>
              <a:t>95</a:t>
            </a:r>
            <a:r>
              <a:rPr sz="1900" dirty="0"/>
              <a:t>% CI: ₹-6,356.95 to ₹23,966.94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900" dirty="0" smtClean="0"/>
              <a:t>Effect </a:t>
            </a:r>
            <a:r>
              <a:rPr sz="1900" dirty="0"/>
              <a:t>Size (Cohen's d): 0.0776 (Negligible)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30352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937760" cy="1590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400" dirty="0">
                <a:latin typeface="Aptos"/>
              </a:rPr>
              <a:t>Cohort Specifics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sz="1900" dirty="0">
                <a:latin typeface="Aptos"/>
              </a:rPr>
              <a:t>Other AOV: ₹</a:t>
            </a:r>
            <a:r>
              <a:rPr sz="1900" dirty="0" smtClean="0">
                <a:latin typeface="Aptos"/>
              </a:rPr>
              <a:t>136,232.75</a:t>
            </a:r>
            <a:endParaRPr lang="en-US" sz="1900" dirty="0" smtClean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sz="700" dirty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sz="1900" dirty="0">
                <a:latin typeface="Aptos"/>
              </a:rPr>
              <a:t>Electronics AOV: ₹</a:t>
            </a:r>
            <a:r>
              <a:rPr sz="1900" dirty="0" smtClean="0">
                <a:latin typeface="Aptos"/>
              </a:rPr>
              <a:t>145,037.74</a:t>
            </a:r>
            <a:endParaRPr lang="en-US" sz="1900" dirty="0" smtClean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sz="700" dirty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sz="1900" dirty="0">
                <a:latin typeface="Aptos"/>
              </a:rPr>
              <a:t>Nominal Difference: ₹8,804.99 (6.46%)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F2C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12064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2C43E"/>
                </a:solidFill>
                <a:latin typeface="Aptos"/>
              </a:defRPr>
            </a:pPr>
            <a:r>
              <a:rPr sz="2500" dirty="0">
                <a:latin typeface="Aptos"/>
              </a:rPr>
              <a:t>Key Business Takeaway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sz="2000" dirty="0" smtClean="0">
                <a:latin typeface="Aptos"/>
              </a:rPr>
              <a:t>FAIL </a:t>
            </a:r>
            <a:r>
              <a:rPr sz="2000" dirty="0">
                <a:latin typeface="Aptos"/>
              </a:rPr>
              <a:t>TO REJECT H0</a:t>
            </a:r>
            <a:endParaRPr lang="en-US" sz="2000" dirty="0" smtClean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sz="2000" dirty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sz="2000" dirty="0" smtClean="0">
                <a:latin typeface="Aptos"/>
              </a:rPr>
              <a:t>The </a:t>
            </a:r>
            <a:r>
              <a:rPr sz="2000" dirty="0">
                <a:latin typeface="Aptos"/>
              </a:rPr>
              <a:t>test does not provide sufficient evidence of a statistically significant difference.</a:t>
            </a:r>
            <a:endParaRPr lang="en-US" sz="2000" dirty="0" smtClean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sz="2000" dirty="0" smtClean="0">
                <a:latin typeface="Aptos"/>
              </a:rPr>
              <a:t>The </a:t>
            </a:r>
            <a:r>
              <a:rPr sz="2000" dirty="0">
                <a:latin typeface="Aptos"/>
              </a:rPr>
              <a:t>confidence interval includes both negative and positive values, so the direction of the population AOV difference remains uncertain.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/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320" y="1828800"/>
            <a:ext cx="4937760" cy="354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200" dirty="0" smtClean="0"/>
              <a:t>Mathematical Grounding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b="1" dirty="0" smtClean="0"/>
              <a:t>Observed 95% Confidence Interval: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lang="en-US" sz="1700" dirty="0" smtClean="0"/>
              <a:t>	</a:t>
            </a:r>
            <a:r>
              <a:rPr sz="1700" dirty="0" smtClean="0"/>
              <a:t>₹-6,356.95 to ₹23,966.94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0F172A"/>
                </a:solidFill>
                <a:latin typeface="Aptos"/>
              </a:defRPr>
            </a:pPr>
            <a:endParaRPr sz="1700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b="1" dirty="0" smtClean="0"/>
              <a:t>Statistical Definition:</a:t>
            </a:r>
          </a:p>
          <a:p>
            <a:pPr lvl="1"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dirty="0" smtClean="0"/>
              <a:t>We are 95% confident the population mean difference lies between ₹-6,356.95 and ₹23,966.94.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0F172A"/>
                </a:solidFill>
                <a:latin typeface="Aptos"/>
              </a:defRPr>
            </a:pPr>
            <a:endParaRPr sz="1700" dirty="0" smtClean="0"/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0F172A"/>
                </a:solidFill>
                <a:latin typeface="Aptos"/>
              </a:defRPr>
            </a:pPr>
            <a:r>
              <a:rPr sz="1700" dirty="0" smtClean="0"/>
              <a:t>This supports a non-significant result at</a:t>
            </a:r>
            <a:r>
              <a:rPr lang="en-US" sz="1700" dirty="0" smtClean="0"/>
              <a:t>           </a:t>
            </a:r>
            <a:r>
              <a:rPr sz="1700" dirty="0" smtClean="0"/>
              <a:t> α = 0.05.</a:t>
            </a:r>
            <a:endParaRPr sz="170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38272" y="1828800"/>
            <a:ext cx="4937760" cy="36061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300" dirty="0">
                <a:latin typeface="Aptos"/>
              </a:rPr>
              <a:t>Risk Assessment &amp; Implications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600" b="1" dirty="0">
                <a:latin typeface="Aptos"/>
              </a:rPr>
              <a:t>Negative Bound (₹-6,356.95</a:t>
            </a:r>
            <a:r>
              <a:rPr sz="1600" b="1" dirty="0" smtClean="0">
                <a:latin typeface="Aptos"/>
              </a:rPr>
              <a:t>):</a:t>
            </a:r>
            <a:endParaRPr lang="en-US" sz="1600" b="1" dirty="0" smtClean="0">
              <a:latin typeface="Aptos"/>
            </a:endParaRPr>
          </a:p>
          <a:p>
            <a:endParaRPr sz="300" b="1" dirty="0">
              <a:latin typeface="Aptos"/>
            </a:endParaRPr>
          </a:p>
          <a:p>
            <a:pPr lvl="1"/>
            <a:r>
              <a:rPr lang="en-US" sz="1600" dirty="0">
                <a:latin typeface="Aptos"/>
              </a:rPr>
              <a:t>Negative values indicate potential downside</a:t>
            </a:r>
            <a:r>
              <a:rPr lang="en-US" sz="1600" dirty="0" smtClean="0">
                <a:latin typeface="Aptos"/>
              </a:rPr>
              <a:t>.</a:t>
            </a:r>
          </a:p>
          <a:p>
            <a:pPr lvl="1"/>
            <a:endParaRPr sz="1600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600" b="1" dirty="0">
                <a:latin typeface="Aptos"/>
              </a:rPr>
              <a:t>Positive Bound (₹23,966.94</a:t>
            </a:r>
            <a:r>
              <a:rPr sz="1600" b="1" dirty="0" smtClean="0">
                <a:latin typeface="Aptos"/>
              </a:rPr>
              <a:t>):</a:t>
            </a:r>
            <a:endParaRPr lang="en-US" sz="1600" b="1" dirty="0" smtClean="0">
              <a:latin typeface="Aptos"/>
            </a:endParaRPr>
          </a:p>
          <a:p>
            <a:endParaRPr sz="300" b="1" dirty="0">
              <a:latin typeface="Aptos"/>
            </a:endParaRPr>
          </a:p>
          <a:p>
            <a:pPr lvl="1"/>
            <a:r>
              <a:rPr sz="1600" dirty="0" smtClean="0">
                <a:latin typeface="Aptos"/>
              </a:rPr>
              <a:t>Positive </a:t>
            </a:r>
            <a:r>
              <a:rPr sz="1600" dirty="0">
                <a:latin typeface="Aptos"/>
              </a:rPr>
              <a:t>values indicate potential upside, but the interval remains too wide to establish a reliable AOV difference.</a:t>
            </a:r>
          </a:p>
          <a:p>
            <a:endParaRPr sz="1600" dirty="0">
              <a:latin typeface="Apto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600" b="1" dirty="0">
                <a:latin typeface="Aptos"/>
              </a:rPr>
              <a:t>Business Verdict</a:t>
            </a:r>
            <a:r>
              <a:rPr sz="1600" b="1" dirty="0" smtClean="0">
                <a:latin typeface="Aptos"/>
              </a:rPr>
              <a:t>:</a:t>
            </a:r>
            <a:endParaRPr lang="en-US" sz="1600" b="1" dirty="0" smtClean="0">
              <a:latin typeface="Aptos"/>
            </a:endParaRPr>
          </a:p>
          <a:p>
            <a:endParaRPr sz="300" b="1" dirty="0" smtClean="0">
              <a:latin typeface="Aptos"/>
            </a:endParaRPr>
          </a:p>
          <a:p>
            <a:pPr lvl="1"/>
            <a:r>
              <a:rPr sz="1600" dirty="0" smtClean="0">
                <a:latin typeface="Aptos"/>
              </a:rPr>
              <a:t>The </a:t>
            </a:r>
            <a:r>
              <a:rPr sz="1600" dirty="0">
                <a:latin typeface="Aptos"/>
              </a:rPr>
              <a:t>confidence interval includes negative and positive values, so the direction and magnitude of the population AOV difference remain uncertain</a:t>
            </a:r>
            <a:r>
              <a:rPr dirty="0"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lang="en-IN" sz="3000" b="1" dirty="0"/>
              <a:t>Confidence Interval Includes Zero</a:t>
            </a:r>
            <a:endParaRPr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lang="en-US" sz="3000" b="1" dirty="0"/>
              <a:t>Statistical Interpretation and Next Test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 dirty="0"/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320" y="1828800"/>
            <a:ext cx="4937760" cy="33701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500" dirty="0" smtClean="0">
                <a:latin typeface="Aptos"/>
              </a:rPr>
              <a:t>Statistical </a:t>
            </a:r>
            <a:r>
              <a:rPr sz="2500" dirty="0">
                <a:latin typeface="Aptos"/>
              </a:rPr>
              <a:t>Evidence</a:t>
            </a:r>
            <a:r>
              <a:rPr sz="2500" dirty="0" smtClean="0">
                <a:latin typeface="Aptos"/>
              </a:rPr>
              <a:t>:</a:t>
            </a:r>
            <a:endParaRPr lang="en-US" sz="2500" dirty="0" smtClean="0">
              <a:latin typeface="Aptos"/>
            </a:endParaRP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  <a:defRPr sz="1800" b="1">
                <a:solidFill>
                  <a:srgbClr val="2563EB"/>
                </a:solidFill>
                <a:latin typeface="Aptos"/>
              </a:defRPr>
            </a:pPr>
            <a:endParaRPr sz="1500" dirty="0">
              <a:latin typeface="Aptos"/>
            </a:endParaRP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2000" dirty="0">
                <a:latin typeface="Aptos"/>
              </a:rPr>
              <a:t>p = 0.2546</a:t>
            </a: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2000" b="1" dirty="0">
              <a:latin typeface="Aptos"/>
            </a:endParaRP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2000" b="1" dirty="0" smtClean="0">
                <a:latin typeface="Aptos"/>
              </a:rPr>
              <a:t>Key </a:t>
            </a:r>
            <a:r>
              <a:rPr sz="2000" b="1" dirty="0">
                <a:latin typeface="Aptos"/>
              </a:rPr>
              <a:t>Finding</a:t>
            </a:r>
            <a:r>
              <a:rPr sz="2000" b="1" dirty="0" smtClean="0">
                <a:latin typeface="Aptos"/>
              </a:rPr>
              <a:t>:</a:t>
            </a:r>
            <a:endParaRPr lang="en-US" sz="2000" b="1" dirty="0" smtClean="0">
              <a:latin typeface="Aptos"/>
            </a:endParaRPr>
          </a:p>
          <a:p>
            <a:pPr marL="171450" indent="-17145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700" b="1" dirty="0">
              <a:latin typeface="Aptos"/>
            </a:endParaRPr>
          </a:p>
          <a:p>
            <a:pPr lvl="1"/>
            <a:r>
              <a:rPr sz="2000" dirty="0">
                <a:latin typeface="Aptos"/>
              </a:rPr>
              <a:t>Cohen's d = 0.0776, a negligible effect.</a:t>
            </a: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2000" dirty="0">
              <a:latin typeface="Aptos"/>
            </a:endParaRP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2000" b="1" dirty="0" smtClean="0">
                <a:latin typeface="Aptos"/>
              </a:rPr>
              <a:t>Implication:</a:t>
            </a:r>
            <a:endParaRPr lang="en-US" sz="2000" b="1" dirty="0" smtClean="0">
              <a:latin typeface="Aptos"/>
            </a:endParaRPr>
          </a:p>
          <a:p>
            <a:pPr marL="171450" indent="-171450"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700" b="1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Aptos"/>
              </a:rPr>
              <a:t>	</a:t>
            </a:r>
            <a:r>
              <a:rPr sz="2000" dirty="0" smtClean="0">
                <a:latin typeface="Aptos"/>
              </a:rPr>
              <a:t>The </a:t>
            </a:r>
            <a:r>
              <a:rPr sz="2000" dirty="0">
                <a:latin typeface="Aptos"/>
              </a:rPr>
              <a:t>evidence is insufficient to establish </a:t>
            </a:r>
            <a:r>
              <a:rPr lang="en-US" sz="2000" dirty="0" smtClean="0">
                <a:latin typeface="Aptos"/>
              </a:rPr>
              <a:t>	</a:t>
            </a:r>
            <a:r>
              <a:rPr sz="2000" dirty="0" smtClean="0">
                <a:latin typeface="Aptos"/>
              </a:rPr>
              <a:t>a significant </a:t>
            </a:r>
            <a:r>
              <a:rPr sz="2000" dirty="0">
                <a:latin typeface="Aptos"/>
              </a:rPr>
              <a:t>AOV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9216" y="1828800"/>
            <a:ext cx="5052400" cy="4108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500" dirty="0" smtClean="0">
                <a:latin typeface="Aptos"/>
              </a:rPr>
              <a:t>Future </a:t>
            </a:r>
            <a:r>
              <a:rPr sz="2500" dirty="0">
                <a:latin typeface="Aptos"/>
              </a:rPr>
              <a:t>Test </a:t>
            </a:r>
            <a:r>
              <a:rPr sz="2500" dirty="0" smtClean="0">
                <a:latin typeface="Aptos"/>
              </a:rPr>
              <a:t>Design:</a:t>
            </a:r>
            <a:endParaRPr lang="en-US" sz="2500" dirty="0" smtClean="0">
              <a:latin typeface="Aptos"/>
            </a:endParaRPr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lang="en-US" sz="1500" dirty="0">
              <a:latin typeface="Apto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ptos"/>
              </a:rPr>
              <a:t>Future testing should be planned with adequate statistical power before data collection, with α and the minimum detectable effect defined in advance</a:t>
            </a:r>
            <a:r>
              <a:rPr lang="en-US" sz="2000" dirty="0" smtClean="0">
                <a:latin typeface="Aptos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sz="1500" b="1" dirty="0" smtClean="0">
              <a:latin typeface="Aptos"/>
            </a:endParaRPr>
          </a:p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2000" b="1" dirty="0" smtClean="0">
                <a:latin typeface="Aptos"/>
              </a:rPr>
              <a:t>Statistical </a:t>
            </a:r>
            <a:r>
              <a:rPr sz="2000" b="1" dirty="0">
                <a:latin typeface="Aptos"/>
              </a:rPr>
              <a:t>Planning</a:t>
            </a:r>
            <a:r>
              <a:rPr sz="2000" b="1" dirty="0" smtClean="0">
                <a:latin typeface="Aptos"/>
              </a:rPr>
              <a:t>:</a:t>
            </a:r>
            <a:endParaRPr lang="en-US" sz="2000" b="1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800" b="1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2000" dirty="0">
                <a:latin typeface="Aptos"/>
              </a:rPr>
              <a:t>▪ Predefine target power and significance </a:t>
            </a:r>
            <a:r>
              <a:rPr lang="en-US" sz="2000" dirty="0">
                <a:latin typeface="Aptos"/>
              </a:rPr>
              <a:t> </a:t>
            </a:r>
            <a:r>
              <a:rPr lang="en-US" sz="2000" dirty="0" smtClean="0">
                <a:latin typeface="Aptos"/>
              </a:rPr>
              <a:t>  </a:t>
            </a:r>
            <a:r>
              <a:rPr sz="2000" dirty="0" smtClean="0">
                <a:latin typeface="Aptos"/>
              </a:rPr>
              <a:t>level.</a:t>
            </a:r>
            <a:endParaRPr lang="en-US" sz="20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7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2000" dirty="0">
                <a:latin typeface="Aptos"/>
              </a:rPr>
              <a:t>▪ Set α before testing</a:t>
            </a:r>
            <a:r>
              <a:rPr sz="2000" dirty="0" smtClean="0">
                <a:latin typeface="Aptos"/>
              </a:rPr>
              <a:t>.</a:t>
            </a:r>
            <a:endParaRPr lang="en-US" sz="20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7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2000" dirty="0">
                <a:latin typeface="Aptos"/>
              </a:rPr>
              <a:t>▪ Predefine the minimum detectable effect.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lang="en-US" sz="3000" b="1" dirty="0"/>
              <a:t>Business Decision and Next Options</a:t>
            </a:r>
            <a:endParaRPr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/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F2C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2112" y="1434100"/>
            <a:ext cx="1127729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C43E"/>
                </a:solidFill>
                <a:latin typeface="Aptos"/>
              </a:defRPr>
            </a:pPr>
            <a:r>
              <a:rPr sz="2300" dirty="0">
                <a:solidFill>
                  <a:schemeClr val="bg1"/>
                </a:solidFill>
              </a:rPr>
              <a:t>RECOMMENDED DECISION</a:t>
            </a:r>
            <a:r>
              <a:rPr sz="2300" dirty="0" smtClean="0">
                <a:solidFill>
                  <a:schemeClr val="bg1"/>
                </a:solidFill>
              </a:rPr>
              <a:t>:</a:t>
            </a:r>
            <a:endParaRPr lang="en-US" sz="2300" dirty="0" smtClean="0">
              <a:solidFill>
                <a:schemeClr val="bg1"/>
              </a:solidFill>
            </a:endParaRPr>
          </a:p>
          <a:p>
            <a:pPr algn="ctr">
              <a:defRPr sz="1600" b="1">
                <a:solidFill>
                  <a:srgbClr val="F2C43E"/>
                </a:solidFill>
                <a:latin typeface="Aptos"/>
              </a:defRPr>
            </a:pPr>
            <a:r>
              <a:rPr sz="2300" dirty="0" smtClean="0"/>
              <a:t>FAIL </a:t>
            </a:r>
            <a:r>
              <a:rPr sz="2300" dirty="0"/>
              <a:t>TO REJECT H0 • MONITOR AOV AND VALIDATE FUTURE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566160" cy="37490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672" y="2464784"/>
            <a:ext cx="3328688" cy="3585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>
                <a:latin typeface="Aptos"/>
              </a:rPr>
              <a:t>Option A: Monitor </a:t>
            </a:r>
            <a:r>
              <a:rPr lang="en-US" sz="2000" dirty="0" smtClean="0">
                <a:latin typeface="Aptos"/>
              </a:rPr>
              <a:t>					    </a:t>
            </a:r>
            <a:r>
              <a:rPr sz="2000" dirty="0" smtClean="0">
                <a:latin typeface="Aptos"/>
              </a:rPr>
              <a:t>Electronics AOV</a:t>
            </a:r>
            <a:endParaRPr lang="en-US" sz="2000" dirty="0" smtClean="0">
              <a:latin typeface="Aptos"/>
            </a:endParaRPr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b="1" dirty="0">
                <a:latin typeface="Aptos"/>
              </a:rPr>
              <a:t>STATUS: </a:t>
            </a:r>
            <a:r>
              <a:rPr sz="1900" b="1" dirty="0" smtClean="0">
                <a:latin typeface="Aptos"/>
              </a:rPr>
              <a:t>RECOMMENDED</a:t>
            </a:r>
            <a:endParaRPr lang="en-US" sz="1900" b="1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700" b="1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Track the observed AOV difference over future transactions</a:t>
            </a:r>
            <a:r>
              <a:rPr sz="1900" dirty="0" smtClean="0">
                <a:latin typeface="Aptos"/>
              </a:rPr>
              <a:t>.</a:t>
            </a:r>
            <a:endParaRPr lang="en-US" sz="19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Monitor category and city patterns</a:t>
            </a:r>
            <a:r>
              <a:rPr sz="1900" dirty="0" smtClean="0">
                <a:latin typeface="Aptos"/>
              </a:rPr>
              <a:t>.</a:t>
            </a:r>
            <a:endParaRPr lang="en-US" sz="19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No immediate rollout decision is supported by the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566160" cy="37490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152" y="2464784"/>
            <a:ext cx="3200400" cy="301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>
                <a:latin typeface="Aptos"/>
              </a:rPr>
              <a:t>Option B: Segment and </a:t>
            </a:r>
            <a:r>
              <a:rPr lang="en-US" sz="2000" dirty="0" smtClean="0">
                <a:latin typeface="Aptos"/>
              </a:rPr>
              <a:t>			     </a:t>
            </a:r>
            <a:r>
              <a:rPr sz="2000" dirty="0" smtClean="0">
                <a:latin typeface="Aptos"/>
              </a:rPr>
              <a:t>Investigate</a:t>
            </a:r>
            <a:endParaRPr lang="en-US" sz="2000" dirty="0" smtClean="0">
              <a:latin typeface="Aptos"/>
            </a:endParaRPr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b="1" dirty="0">
                <a:latin typeface="Aptos"/>
              </a:rPr>
              <a:t>STATUS: </a:t>
            </a:r>
            <a:r>
              <a:rPr sz="1900" b="1" dirty="0" smtClean="0">
                <a:latin typeface="Aptos"/>
              </a:rPr>
              <a:t>RECOMMENDED</a:t>
            </a:r>
            <a:endParaRPr lang="en-US" sz="1900" b="1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800" b="1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Segment AOV by product and city</a:t>
            </a:r>
            <a:r>
              <a:rPr sz="1900" dirty="0" smtClean="0">
                <a:latin typeface="Aptos"/>
              </a:rPr>
              <a:t>.</a:t>
            </a:r>
            <a:endParaRPr lang="en-US" sz="19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Investigate high-spend cohorts</a:t>
            </a:r>
            <a:r>
              <a:rPr sz="1900" dirty="0" smtClean="0">
                <a:latin typeface="Aptos"/>
              </a:rPr>
              <a:t>.</a:t>
            </a:r>
            <a:endParaRPr lang="en-US" sz="19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Use findings to define a clearer next hypothesis.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77440"/>
            <a:ext cx="3566160" cy="37490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632" y="2464784"/>
            <a:ext cx="3200400" cy="3308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>
                <a:latin typeface="Aptos"/>
              </a:rPr>
              <a:t>Option C: Controlled </a:t>
            </a:r>
            <a:r>
              <a:rPr lang="en-US" sz="2000" dirty="0" smtClean="0">
                <a:latin typeface="Aptos"/>
              </a:rPr>
              <a:t>				     </a:t>
            </a:r>
            <a:r>
              <a:rPr sz="2000" dirty="0" smtClean="0">
                <a:latin typeface="Aptos"/>
              </a:rPr>
              <a:t>Validation</a:t>
            </a:r>
            <a:endParaRPr lang="en-US" sz="2000" dirty="0" smtClean="0">
              <a:latin typeface="Aptos"/>
            </a:endParaRPr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b="1" dirty="0">
                <a:latin typeface="Aptos"/>
              </a:rPr>
              <a:t>STATUS: FUTURE </a:t>
            </a:r>
            <a:r>
              <a:rPr sz="1900" b="1" dirty="0" smtClean="0">
                <a:latin typeface="Aptos"/>
              </a:rPr>
              <a:t>TEST</a:t>
            </a:r>
            <a:endParaRPr lang="en-US" sz="1900" b="1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800" b="1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Validate pricing or promotion changes with controlled testing</a:t>
            </a:r>
            <a:r>
              <a:rPr sz="1900" dirty="0" smtClean="0">
                <a:latin typeface="Aptos"/>
              </a:rPr>
              <a:t>.</a:t>
            </a:r>
            <a:endParaRPr lang="en-US" sz="19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Use adequate sample sizing</a:t>
            </a:r>
            <a:r>
              <a:rPr sz="1900" dirty="0" smtClean="0">
                <a:latin typeface="Aptos"/>
              </a:rPr>
              <a:t>.</a:t>
            </a:r>
            <a:endParaRPr lang="en-US" sz="1900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5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1900" dirty="0">
                <a:latin typeface="Aptos"/>
              </a:rPr>
              <a:t>▪ Avoid broad rollout until reliable evidence is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5078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700" b="1">
                <a:solidFill>
                  <a:srgbClr val="F2C43E"/>
                </a:solidFill>
                <a:latin typeface="Aptos"/>
              </a:defRPr>
            </a:pPr>
            <a:r>
              <a:rPr sz="3000" dirty="0">
                <a:latin typeface="Aptos"/>
              </a:rPr>
              <a:t>Tactical Action Plan for the Next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ptos"/>
              </a:defRPr>
            </a:pPr>
            <a:r>
              <a:rPr sz="1500"/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7295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1097280"/>
          </a:xfrm>
          <a:prstGeom prst="rect">
            <a:avLst/>
          </a:prstGeom>
          <a:solidFill>
            <a:srgbClr val="F1F5F9"/>
          </a:solidFill>
          <a:ln w="38100">
            <a:solidFill>
              <a:srgbClr val="F2C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2112" y="1534905"/>
            <a:ext cx="112772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 sz="2000" dirty="0">
                <a:latin typeface="Aptos"/>
              </a:rPr>
              <a:t>FINAL STATISTICAL DECISION</a:t>
            </a:r>
            <a:r>
              <a:rPr dirty="0"/>
              <a:t/>
            </a:r>
            <a:br>
              <a:rPr dirty="0"/>
            </a:b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3566160" cy="3291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431" y="3017520"/>
            <a:ext cx="3383281" cy="183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/>
              <a:t>1. Monitor Electronics </a:t>
            </a:r>
            <a:r>
              <a:rPr sz="2000" dirty="0" smtClean="0"/>
              <a:t>AOV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b="1" dirty="0"/>
              <a:t>Action:</a:t>
            </a:r>
            <a:endParaRPr lang="en-US" sz="2000" b="1" dirty="0" smtClean="0"/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endParaRPr sz="100" dirty="0"/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/>
              <a:t>Track Electronics AOV and the category difference over future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834640"/>
            <a:ext cx="3566160" cy="3291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3017520"/>
            <a:ext cx="3200400" cy="2451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>
                <a:latin typeface="Aptos"/>
              </a:rPr>
              <a:t>2. Segment Key Drivers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b="1" dirty="0">
                <a:latin typeface="Aptos"/>
              </a:rPr>
              <a:t>Action:</a:t>
            </a:r>
            <a:endParaRPr lang="en-US" sz="2000" b="1" dirty="0" smtClean="0">
              <a:latin typeface="Aptos"/>
            </a:endParaRP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endParaRPr sz="100" dirty="0">
              <a:latin typeface="Aptos"/>
            </a:endParaRP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rPr sz="2000" dirty="0">
                <a:latin typeface="Aptos"/>
              </a:rPr>
              <a:t>Analyze AOV by product and city to identify meaningful drivers and define a clearer next hypothesis.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834640"/>
            <a:ext cx="3566160" cy="3291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3200400" cy="24160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r>
              <a:rPr sz="2000" dirty="0">
                <a:latin typeface="Aptos"/>
              </a:rPr>
              <a:t>3. Run Controlled </a:t>
            </a:r>
            <a:r>
              <a:rPr sz="2000" dirty="0" smtClean="0">
                <a:latin typeface="Aptos"/>
              </a:rPr>
              <a:t>Tests</a:t>
            </a:r>
            <a:endParaRPr lang="en-US" sz="2000" dirty="0" smtClean="0">
              <a:latin typeface="Aptos"/>
            </a:endParaRPr>
          </a:p>
          <a:p>
            <a:pPr>
              <a:spcAft>
                <a:spcPts val="0"/>
              </a:spcAft>
              <a:defRPr sz="1800" b="1">
                <a:solidFill>
                  <a:srgbClr val="2563EB"/>
                </a:solidFill>
                <a:latin typeface="Aptos"/>
              </a:defRPr>
            </a:pPr>
            <a:endParaRPr sz="700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2000" b="1" dirty="0">
                <a:latin typeface="Aptos"/>
              </a:rPr>
              <a:t>Action</a:t>
            </a:r>
            <a:r>
              <a:rPr sz="2000" b="1" dirty="0" smtClean="0">
                <a:latin typeface="Aptos"/>
              </a:rPr>
              <a:t>:</a:t>
            </a:r>
            <a:endParaRPr lang="en-US" sz="2000" b="1" dirty="0" smtClean="0">
              <a:latin typeface="Aptos"/>
            </a:endParaRPr>
          </a:p>
          <a:p>
            <a:pPr>
              <a:spcAft>
                <a:spcPts val="0"/>
              </a:spcAft>
            </a:pPr>
            <a:endParaRPr sz="800" b="1" dirty="0">
              <a:latin typeface="Aptos"/>
            </a:endParaRPr>
          </a:p>
          <a:p>
            <a:pPr>
              <a:spcAft>
                <a:spcPts val="0"/>
              </a:spcAft>
            </a:pPr>
            <a:r>
              <a:rPr sz="2000" dirty="0">
                <a:latin typeface="Aptos"/>
              </a:rPr>
              <a:t>Use controlled pricing or promotion tests with an adequately powered sample to improve statistical power and estimate precision.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370" y="1844478"/>
            <a:ext cx="112772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 lang="en-US" sz="2000" dirty="0">
                <a:solidFill>
                  <a:srgbClr val="0F172A"/>
                </a:solidFill>
              </a:rPr>
              <a:t>FAIL TO REJECT H0 • OBSERVED ELECTRONICS AOV DIFFERENCE IS NOT STATISTICALLY ESTABLISHED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676</Words>
  <Application>Microsoft Office PowerPoint</Application>
  <PresentationFormat>Widescreen</PresentationFormat>
  <Paragraphs>230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Anish Raj</cp:lastModifiedBy>
  <cp:revision>34</cp:revision>
  <dcterms:created xsi:type="dcterms:W3CDTF">2013-01-27T09:14:16Z</dcterms:created>
  <dcterms:modified xsi:type="dcterms:W3CDTF">2026-08-24T09:31:05Z</dcterms:modified>
  <cp:category/>
</cp:coreProperties>
</file>